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4817" r:id="rId2"/>
    <p:sldId id="267" r:id="rId3"/>
    <p:sldId id="266" r:id="rId4"/>
    <p:sldId id="258" r:id="rId5"/>
    <p:sldId id="264" r:id="rId6"/>
    <p:sldId id="261" r:id="rId7"/>
    <p:sldId id="271" r:id="rId8"/>
    <p:sldId id="274" r:id="rId9"/>
    <p:sldId id="260" r:id="rId10"/>
    <p:sldId id="259" r:id="rId11"/>
    <p:sldId id="262" r:id="rId12"/>
    <p:sldId id="269" r:id="rId13"/>
    <p:sldId id="270" r:id="rId14"/>
    <p:sldId id="4818" r:id="rId15"/>
    <p:sldId id="4819" r:id="rId16"/>
    <p:sldId id="4820" r:id="rId17"/>
    <p:sldId id="4821" r:id="rId18"/>
    <p:sldId id="26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9FF"/>
    <a:srgbClr val="3C3C40"/>
    <a:srgbClr val="EE1A37"/>
    <a:srgbClr val="D7E4F4"/>
    <a:srgbClr val="FD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8D6E9-E548-48F0-910E-AFF1E718524E}" v="30" dt="2025-11-16T05:38:57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9" autoAdjust="0"/>
    <p:restoredTop sz="96424" autoAdjust="0"/>
  </p:normalViewPr>
  <p:slideViewPr>
    <p:cSldViewPr snapToGrid="0">
      <p:cViewPr varScale="1">
        <p:scale>
          <a:sx n="83" d="100"/>
          <a:sy n="83" d="100"/>
        </p:scale>
        <p:origin x="5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0E0EB-50C1-4A12-BE88-DACCAE8089C8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7DB0B-DBBC-4B01-8239-7E58DAA58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54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5AF34-0DAA-40EE-9ACD-5E680A5B916F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7E378-4A26-40D8-B20A-3518D134C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3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A7E378-4A26-40D8-B20A-3518D134C6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696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52EF66D-9382-4C9A-8CA6-C89DD8A01B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668C-45AB-4D97-87A2-AC4728B53370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E32A2-E85C-4344-9920-4A94AF90C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2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668C-45AB-4D97-87A2-AC4728B53370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E32A2-E85C-4344-9920-4A94AF90C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09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A668C-45AB-4D97-87A2-AC4728B53370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E32A2-E85C-4344-9920-4A94AF90C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1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ng.mecheal@gmail.c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mailto:markmaged735@gmail.com" TargetMode="External"/><Relationship Id="rId4" Type="http://schemas.openxmlformats.org/officeDocument/2006/relationships/hyperlink" Target="mailto:georgtawadrous@gmail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the3miaphysite3engineer3/" TargetMode="External"/><Relationship Id="rId3" Type="http://schemas.openxmlformats.org/officeDocument/2006/relationships/image" Target="../media/image8.png"/><Relationship Id="rId7" Type="http://schemas.openxmlformats.org/officeDocument/2006/relationships/hyperlink" Target="https://www.linkedin.com/in/mark-maged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in/micheal-samwel/" TargetMode="Externa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159.138.88.64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rive.google.com/drive/folders/1ay4nWDDlgewaPb4Ky_L81dtEtqeeXNoo?usp=sharin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>
            <a:extLst>
              <a:ext uri="{FF2B5EF4-FFF2-40B4-BE49-F238E27FC236}">
                <a16:creationId xmlns:a16="http://schemas.microsoft.com/office/drawing/2014/main" id="{154DF514-FEEA-4DD7-9717-A8DECADFB8A9}"/>
              </a:ext>
            </a:extLst>
          </p:cNvPr>
          <p:cNvSpPr/>
          <p:nvPr/>
        </p:nvSpPr>
        <p:spPr>
          <a:xfrm>
            <a:off x="959907" y="3947338"/>
            <a:ext cx="5136093" cy="1886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latin typeface="+mn-lt"/>
                <a:cs typeface="Arial" panose="020B0604020202020204" pitchFamily="34" charset="0"/>
              </a:rPr>
              <a:t>Challenge Name:  AI-Powered Innovations</a:t>
            </a:r>
            <a:endParaRPr lang="en-US" altLang="zh-CN" sz="1200" dirty="0"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latin typeface="+mn-lt"/>
                <a:cs typeface="Arial" panose="020B0604020202020204" pitchFamily="34" charset="0"/>
              </a:rPr>
              <a:t>Project Name: Student Churn</a:t>
            </a:r>
            <a:endParaRPr lang="en-US" altLang="zh-CN" sz="1200" dirty="0"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latin typeface="+mn-lt"/>
                <a:cs typeface="Arial" panose="020B0604020202020204" pitchFamily="34" charset="0"/>
              </a:rPr>
              <a:t>Team Name: Eagles</a:t>
            </a:r>
            <a:endParaRPr lang="en-US" altLang="zh-CN" sz="1200" dirty="0"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latin typeface="+mn-lt"/>
                <a:cs typeface="Arial" panose="020B0604020202020204" pitchFamily="34" charset="0"/>
              </a:rPr>
              <a:t>Organization:  Ain Shams University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+mn-lt"/>
                <a:cs typeface="Arial" panose="020B0604020202020204" pitchFamily="34" charset="0"/>
              </a:rPr>
              <a:t>Email/Phone: georgtawadrous@gmail.com</a:t>
            </a:r>
            <a:endParaRPr lang="en-US" altLang="zh-CN" sz="1200" dirty="0"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80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70191" y="1"/>
            <a:ext cx="9221809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2417"/>
              </p:ext>
            </p:extLst>
          </p:nvPr>
        </p:nvGraphicFramePr>
        <p:xfrm>
          <a:off x="3398945" y="1074967"/>
          <a:ext cx="8364300" cy="5065155"/>
        </p:xfrm>
        <a:graphic>
          <a:graphicData uri="http://schemas.openxmlformats.org/drawingml/2006/table">
            <a:tbl>
              <a:tblPr>
                <a:blipFill>
                  <a:blip r:embed="rId2"/>
                  <a:stretch>
                    <a:fillRect/>
                  </a:stretch>
                </a:blipFill>
                <a:tableStyleId>{5C22544A-7EE6-4342-B048-85BDC9FD1C3A}</a:tableStyleId>
              </a:tblPr>
              <a:tblGrid>
                <a:gridCol w="1919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4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07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Project Name</a:t>
                      </a:r>
                      <a:endParaRPr kumimoji="1" lang="en-US" altLang="zh-CN" sz="1200" kern="1200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1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Student Churn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u="none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Team Name</a:t>
                      </a:r>
                      <a:endParaRPr kumimoji="1" lang="en-US" altLang="zh-CN" sz="1200" kern="1200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Eagles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u="none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Contacts</a:t>
                      </a:r>
                      <a:endParaRPr kumimoji="1" lang="en-US" altLang="zh-CN" sz="1200" kern="1200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  <a:hlinkClick r:id="rId3"/>
                        </a:rPr>
                        <a:t>eng.mecheal@gmail.com</a:t>
                      </a:r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  <a:hlinkClick r:id="rId4"/>
                        </a:rPr>
                        <a:t>georgtawadrous@gmail.com</a:t>
                      </a:r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  <a:hlinkClick r:id="rId5"/>
                        </a:rPr>
                        <a:t>markmaged735@gmail.com</a:t>
                      </a:r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 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u="none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Technical Field</a:t>
                      </a:r>
                      <a:endParaRPr lang="en-US" sz="1200" u="none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Serverless Architectures, Cloud Native, MLOps, ML, LLMs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u="none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Technologies</a:t>
                      </a:r>
                      <a:endParaRPr lang="en-US" sz="1200" u="none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ML, </a:t>
                      </a:r>
                      <a:r>
                        <a:rPr lang="en-US" altLang="zh-CN" sz="1100" b="0" i="1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ModelArts</a:t>
                      </a:r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lang="en-US" altLang="zh-CN" sz="1100" b="0" i="1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FunctionGraphs</a:t>
                      </a:r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, RDS, ECS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Keywords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AI Counselor Chat (RAG), Student Churn Prediction, Real-Time Inference, </a:t>
                      </a:r>
                      <a:r>
                        <a:rPr lang="en-US" sz="1100" dirty="0" err="1"/>
                        <a:t>MLOps</a:t>
                      </a:r>
                      <a:r>
                        <a:rPr lang="en-US" sz="1100" dirty="0"/>
                        <a:t>, Event-Driven Architecture, Huawei Cloud, Decision Support System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u="none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Applicable Fields</a:t>
                      </a:r>
                      <a:endParaRPr lang="en-US" sz="1200" u="none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1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Microsoft YaHei" panose="020B0503020204020204" pitchFamily="34" charset="-122"/>
                        </a:rPr>
                        <a:t>Education, Business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988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u="none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Description (in 200 words)</a:t>
                      </a:r>
                      <a:endParaRPr lang="en-US" sz="1200" u="none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The </a:t>
                      </a:r>
                      <a:r>
                        <a:rPr lang="en-US" sz="1100" b="1" dirty="0"/>
                        <a:t>AI-Powered Student Retention System</a:t>
                      </a:r>
                      <a:r>
                        <a:rPr lang="en-US" sz="1100" dirty="0"/>
                        <a:t> is a sophisticated Machine Learning Operations (</a:t>
                      </a:r>
                      <a:r>
                        <a:rPr lang="en-US" sz="1100" dirty="0" err="1"/>
                        <a:t>MLOps</a:t>
                      </a:r>
                      <a:r>
                        <a:rPr lang="en-US" sz="1100" dirty="0"/>
                        <a:t>) solution built entirely on the </a:t>
                      </a:r>
                      <a:r>
                        <a:rPr lang="en-US" sz="1100" b="1" dirty="0"/>
                        <a:t>Huawei Cloud</a:t>
                      </a:r>
                      <a:r>
                        <a:rPr lang="en-US" sz="1100" dirty="0"/>
                        <a:t> platform, designed to combat student attrition through automation and proactive intervention.</a:t>
                      </a:r>
                    </a:p>
                    <a:p>
                      <a:r>
                        <a:rPr lang="en-US" sz="1100" dirty="0"/>
                        <a:t>The core innovation lies in its </a:t>
                      </a:r>
                      <a:r>
                        <a:rPr lang="en-US" sz="1100" b="1" dirty="0"/>
                        <a:t>event-driven architecture</a:t>
                      </a:r>
                      <a:r>
                        <a:rPr lang="en-US" sz="1100" dirty="0"/>
                        <a:t>. When new student data is uploaded to </a:t>
                      </a:r>
                      <a:r>
                        <a:rPr lang="en-US" sz="1100" b="1" dirty="0"/>
                        <a:t>OBS</a:t>
                      </a:r>
                      <a:r>
                        <a:rPr lang="en-US" sz="1100" dirty="0"/>
                        <a:t>, </a:t>
                      </a:r>
                      <a:r>
                        <a:rPr lang="en-US" sz="1100" b="1" dirty="0" err="1"/>
                        <a:t>FunctionGraph</a:t>
                      </a:r>
                      <a:r>
                        <a:rPr lang="en-US" sz="1100" dirty="0"/>
                        <a:t> automatically orchestrates the parallel ETL process (via </a:t>
                      </a:r>
                      <a:r>
                        <a:rPr lang="en-US" sz="1100" b="1" dirty="0"/>
                        <a:t>ECS</a:t>
                      </a:r>
                      <a:r>
                        <a:rPr lang="en-US" sz="1100" dirty="0"/>
                        <a:t> to the </a:t>
                      </a:r>
                      <a:r>
                        <a:rPr lang="en-US" sz="1100" b="1" dirty="0"/>
                        <a:t>RDS Feature Store</a:t>
                      </a:r>
                      <a:r>
                        <a:rPr lang="en-US" sz="1100" dirty="0"/>
                        <a:t>) and the model training on </a:t>
                      </a:r>
                      <a:r>
                        <a:rPr lang="en-US" sz="1100" b="1" dirty="0" err="1"/>
                        <a:t>ModelArts</a:t>
                      </a:r>
                      <a:r>
                        <a:rPr lang="en-US" sz="1100" dirty="0"/>
                        <a:t>. The system ensures that the churn prediction model is always current by deploying it as a </a:t>
                      </a:r>
                      <a:r>
                        <a:rPr lang="en-US" sz="1100" b="1" dirty="0"/>
                        <a:t>Real-Time Prediction Service API Endpoint</a:t>
                      </a:r>
                      <a:r>
                        <a:rPr lang="en-US" sz="1100" dirty="0"/>
                        <a:t> on </a:t>
                      </a:r>
                      <a:r>
                        <a:rPr lang="en-US" sz="1100" dirty="0" err="1"/>
                        <a:t>ModelArts</a:t>
                      </a:r>
                      <a:r>
                        <a:rPr lang="en-US" sz="1100" dirty="0"/>
                        <a:t>.</a:t>
                      </a:r>
                    </a:p>
                    <a:p>
                      <a:r>
                        <a:rPr lang="en-US" sz="1100" dirty="0"/>
                        <a:t>The user interface, a </a:t>
                      </a:r>
                      <a:r>
                        <a:rPr lang="en-US" sz="1100" b="1" dirty="0" err="1"/>
                        <a:t>Streamlit</a:t>
                      </a:r>
                      <a:r>
                        <a:rPr lang="en-US" sz="1100" dirty="0"/>
                        <a:t> dashboard, consumes this real-time inference to provide instant risk scores. Crucially, the application features an integrated </a:t>
                      </a:r>
                      <a:r>
                        <a:rPr lang="en-US" sz="1100" b="1" dirty="0"/>
                        <a:t>Retrieval-Augmented Generation (RAG) system</a:t>
                      </a:r>
                      <a:r>
                        <a:rPr lang="en-US" sz="1100" dirty="0"/>
                        <a:t> (the "AI Counselor Chat"). This Generative AI component, powered by DeepSeek, Qwen &amp; </a:t>
                      </a:r>
                      <a:r>
                        <a:rPr lang="en-US" sz="1100" b="0" dirty="0"/>
                        <a:t>Gemini</a:t>
                      </a:r>
                      <a:r>
                        <a:rPr lang="en-US" sz="1100" dirty="0"/>
                        <a:t>, synthesizes the real-time prediction and the student's detailed profile to generate </a:t>
                      </a:r>
                      <a:r>
                        <a:rPr lang="en-US" sz="1100" b="1" dirty="0"/>
                        <a:t>personalized, conversational retention advice</a:t>
                      </a:r>
                      <a:r>
                        <a:rPr lang="en-US" sz="1100" dirty="0"/>
                        <a:t>.</a:t>
                      </a:r>
                    </a:p>
                    <a:p>
                      <a:r>
                        <a:rPr lang="en-US" sz="1100" dirty="0"/>
                        <a:t>By seamlessly combining an automated pipeline, real-time prediction, and contextual AI-driven guidance, the project moves institutions from reactive reporting to a proactive </a:t>
                      </a:r>
                      <a:r>
                        <a:rPr lang="en-US" sz="1100" b="1" dirty="0"/>
                        <a:t>decision support system</a:t>
                      </a:r>
                      <a:r>
                        <a:rPr lang="en-US" sz="1100" dirty="0"/>
                        <a:t>, directly leading to increased student retention and optimized resource allocation.</a:t>
                      </a:r>
                    </a:p>
                    <a:p>
                      <a:pPr algn="ctr" fontAlgn="t"/>
                      <a:endParaRPr lang="en-US" altLang="zh-CN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30EEF05E-3A70-3A46-9D7D-01C624CFCEA5}"/>
              </a:ext>
            </a:extLst>
          </p:cNvPr>
          <p:cNvSpPr txBox="1">
            <a:spLocks/>
          </p:cNvSpPr>
          <p:nvPr/>
        </p:nvSpPr>
        <p:spPr>
          <a:xfrm>
            <a:off x="806883" y="1037202"/>
            <a:ext cx="2045373" cy="68254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rial" panose="02000000000000000000" pitchFamily="2" charset="-122"/>
                <a:ea typeface="FZLanTingHeiS-R-GB" panose="02000000000000000000" pitchFamily="2" charset="-122"/>
                <a:cs typeface="+mj-cs"/>
              </a:defRPr>
            </a:lvl1pPr>
          </a:lstStyle>
          <a:p>
            <a:pPr algn="ctr"/>
            <a:r>
              <a:rPr sz="2799" b="1" u="none" dirty="0">
                <a:solidFill>
                  <a:srgbClr val="990000"/>
                </a:solidFill>
              </a:rPr>
              <a:t>Overview</a:t>
            </a:r>
            <a:endParaRPr lang="zh-CN" altLang="en-US" sz="2799" b="1" dirty="0">
              <a:solidFill>
                <a:srgbClr val="990000"/>
              </a:solidFill>
              <a:latin typeface="Arial" panose="02000000000000000000" pitchFamily="2" charset="-122"/>
              <a:ea typeface="方正兰亭黑简体" panose="02000000000000000000" pitchFamily="2" charset="-122"/>
              <a:cs typeface="Arial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3027861"/>
            <a:ext cx="2857500" cy="2857500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30EEF05E-3A70-3A46-9D7D-01C624CFCEA5}"/>
              </a:ext>
            </a:extLst>
          </p:cNvPr>
          <p:cNvSpPr txBox="1">
            <a:spLocks/>
          </p:cNvSpPr>
          <p:nvPr/>
        </p:nvSpPr>
        <p:spPr>
          <a:xfrm>
            <a:off x="3279061" y="38352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>
                <a:solidFill>
                  <a:srgbClr val="575756"/>
                </a:solidFill>
                <a:latin typeface="Arial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u="none" dirty="0">
                <a:latin typeface="+mn-lt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80883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2970191" y="1"/>
            <a:ext cx="9221809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67749" y="1023746"/>
            <a:ext cx="6911008" cy="543339"/>
            <a:chOff x="3432313" y="1034105"/>
            <a:chExt cx="6911008" cy="54333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1053278"/>
              <a:ext cx="20982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Team Introduction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" name="直线连接符 9">
              <a:extLst>
                <a:ext uri="{FF2B5EF4-FFF2-40B4-BE49-F238E27FC236}">
                  <a16:creationId xmlns:a16="http://schemas.microsoft.com/office/drawing/2014/main" id="{769F327C-2A02-9945-906D-25389F1748EE}"/>
                </a:ext>
              </a:extLst>
            </p:cNvPr>
            <p:cNvCxnSpPr/>
            <p:nvPr/>
          </p:nvCxnSpPr>
          <p:spPr>
            <a:xfrm>
              <a:off x="3703982" y="1570229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对角圆角矩形 7">
              <a:extLst>
                <a:ext uri="{FF2B5EF4-FFF2-40B4-BE49-F238E27FC236}">
                  <a16:creationId xmlns:a16="http://schemas.microsoft.com/office/drawing/2014/main" id="{271C7AD8-6D1D-BD4F-B743-B37DCCC53202}"/>
                </a:ext>
              </a:extLst>
            </p:cNvPr>
            <p:cNvSpPr/>
            <p:nvPr/>
          </p:nvSpPr>
          <p:spPr>
            <a:xfrm>
              <a:off x="3432313" y="1034105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1</a:t>
              </a:r>
              <a:endParaRPr kumimoji="1" lang="zh-CN" altLang="en-US" sz="2000" b="1" dirty="0">
                <a:ea typeface="FZLanTingHeiS-DB-GB" panose="02000000000000000000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30EEF05E-3A70-3A46-9D7D-01C624CFCEA5}"/>
              </a:ext>
            </a:extLst>
          </p:cNvPr>
          <p:cNvSpPr txBox="1">
            <a:spLocks/>
          </p:cNvSpPr>
          <p:nvPr/>
        </p:nvSpPr>
        <p:spPr>
          <a:xfrm>
            <a:off x="646189" y="994999"/>
            <a:ext cx="1800731" cy="4959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rial" panose="02000000000000000000" pitchFamily="2" charset="-122"/>
                <a:ea typeface="FZLanTingHeiS-R-GB" panose="02000000000000000000" pitchFamily="2" charset="-122"/>
                <a:cs typeface="+mj-cs"/>
              </a:defRPr>
            </a:lvl1pPr>
          </a:lstStyle>
          <a:p>
            <a:pPr algn="ctr"/>
            <a:r>
              <a:rPr sz="2799" b="1" u="none" dirty="0">
                <a:solidFill>
                  <a:srgbClr val="990000"/>
                </a:solidFill>
              </a:rPr>
              <a:t>Contents</a:t>
            </a:r>
            <a:endParaRPr lang="zh-CN" altLang="en-US" sz="2799" b="1" dirty="0">
              <a:solidFill>
                <a:srgbClr val="990000"/>
              </a:solidFill>
              <a:latin typeface="Arial" panose="02000000000000000000" pitchFamily="2" charset="-122"/>
              <a:ea typeface="方正兰亭黑简体" panose="02000000000000000000" pitchFamily="2" charset="-122"/>
              <a:cs typeface="Arial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267749" y="1699558"/>
            <a:ext cx="6911008" cy="543339"/>
            <a:chOff x="3432313" y="1889316"/>
            <a:chExt cx="6911008" cy="543339"/>
          </a:xfrm>
        </p:grpSpPr>
        <p:cxnSp>
          <p:nvCxnSpPr>
            <p:cNvPr id="11" name="直线连接符 13">
              <a:extLst>
                <a:ext uri="{FF2B5EF4-FFF2-40B4-BE49-F238E27FC236}">
                  <a16:creationId xmlns:a16="http://schemas.microsoft.com/office/drawing/2014/main" id="{D7CFA81B-7F26-A940-B597-4DF4E4A47EA5}"/>
                </a:ext>
              </a:extLst>
            </p:cNvPr>
            <p:cNvCxnSpPr/>
            <p:nvPr/>
          </p:nvCxnSpPr>
          <p:spPr>
            <a:xfrm>
              <a:off x="3703982" y="2425440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对角圆角矩形 11">
              <a:extLst>
                <a:ext uri="{FF2B5EF4-FFF2-40B4-BE49-F238E27FC236}">
                  <a16:creationId xmlns:a16="http://schemas.microsoft.com/office/drawing/2014/main" id="{B2447B12-37EF-E341-A2D5-BAB3B91ED546}"/>
                </a:ext>
              </a:extLst>
            </p:cNvPr>
            <p:cNvSpPr/>
            <p:nvPr/>
          </p:nvSpPr>
          <p:spPr>
            <a:xfrm>
              <a:off x="3432313" y="1889316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2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7" y="1927425"/>
              <a:ext cx="22772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Project Introduction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267749" y="2375370"/>
            <a:ext cx="6911008" cy="543339"/>
            <a:chOff x="3432313" y="2750708"/>
            <a:chExt cx="6911008" cy="543339"/>
          </a:xfrm>
        </p:grpSpPr>
        <p:cxnSp>
          <p:nvCxnSpPr>
            <p:cNvPr id="15" name="直线连接符 16">
              <a:extLst>
                <a:ext uri="{FF2B5EF4-FFF2-40B4-BE49-F238E27FC236}">
                  <a16:creationId xmlns:a16="http://schemas.microsoft.com/office/drawing/2014/main" id="{9459AFDF-5D27-2645-BCA9-4366F5ED3468}"/>
                </a:ext>
              </a:extLst>
            </p:cNvPr>
            <p:cNvCxnSpPr/>
            <p:nvPr/>
          </p:nvCxnSpPr>
          <p:spPr>
            <a:xfrm>
              <a:off x="3703982" y="3286832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对角圆角矩形 15">
              <a:extLst>
                <a:ext uri="{FF2B5EF4-FFF2-40B4-BE49-F238E27FC236}">
                  <a16:creationId xmlns:a16="http://schemas.microsoft.com/office/drawing/2014/main" id="{291DED04-5B3C-2D40-98E0-EB6D0A8B04BC}"/>
                </a:ext>
              </a:extLst>
            </p:cNvPr>
            <p:cNvSpPr/>
            <p:nvPr/>
          </p:nvSpPr>
          <p:spPr>
            <a:xfrm>
              <a:off x="3432313" y="2750708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3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2787938"/>
              <a:ext cx="24950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Technical Architecture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267749" y="3051182"/>
            <a:ext cx="6911008" cy="543339"/>
            <a:chOff x="3432313" y="3662362"/>
            <a:chExt cx="6911008" cy="543339"/>
          </a:xfrm>
        </p:grpSpPr>
        <p:cxnSp>
          <p:nvCxnSpPr>
            <p:cNvPr id="19" name="直线连接符 19">
              <a:extLst>
                <a:ext uri="{FF2B5EF4-FFF2-40B4-BE49-F238E27FC236}">
                  <a16:creationId xmlns:a16="http://schemas.microsoft.com/office/drawing/2014/main" id="{DA95948E-1B35-C74F-B5D3-BAF372F305FB}"/>
                </a:ext>
              </a:extLst>
            </p:cNvPr>
            <p:cNvCxnSpPr/>
            <p:nvPr/>
          </p:nvCxnSpPr>
          <p:spPr>
            <a:xfrm>
              <a:off x="3703982" y="4198486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对角圆角矩形 19">
              <a:extLst>
                <a:ext uri="{FF2B5EF4-FFF2-40B4-BE49-F238E27FC236}">
                  <a16:creationId xmlns:a16="http://schemas.microsoft.com/office/drawing/2014/main" id="{7759FC1B-3C0B-D942-8B9B-FC6352169D35}"/>
                </a:ext>
              </a:extLst>
            </p:cNvPr>
            <p:cNvSpPr/>
            <p:nvPr/>
          </p:nvSpPr>
          <p:spPr>
            <a:xfrm>
              <a:off x="3432313" y="3662362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4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3703198"/>
              <a:ext cx="1197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Functions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267749" y="3726994"/>
            <a:ext cx="6911008" cy="543339"/>
            <a:chOff x="3432313" y="4574015"/>
            <a:chExt cx="6911008" cy="543339"/>
          </a:xfrm>
        </p:grpSpPr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62898963-F52B-714B-8D3D-3C6BDDD5048D}"/>
                </a:ext>
              </a:extLst>
            </p:cNvPr>
            <p:cNvCxnSpPr/>
            <p:nvPr/>
          </p:nvCxnSpPr>
          <p:spPr>
            <a:xfrm>
              <a:off x="3703982" y="5110139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对角圆角矩形 23">
              <a:extLst>
                <a:ext uri="{FF2B5EF4-FFF2-40B4-BE49-F238E27FC236}">
                  <a16:creationId xmlns:a16="http://schemas.microsoft.com/office/drawing/2014/main" id="{AF8DC714-CEAB-5040-8B74-52E7C64E1AC7}"/>
                </a:ext>
              </a:extLst>
            </p:cNvPr>
            <p:cNvSpPr/>
            <p:nvPr/>
          </p:nvSpPr>
          <p:spPr>
            <a:xfrm>
              <a:off x="3432313" y="4574015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5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4614851"/>
              <a:ext cx="1400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Innovations</a:t>
              </a:r>
              <a:endParaRPr kumimoji="1" lang="en-US" altLang="zh-CN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267749" y="4402806"/>
            <a:ext cx="6911008" cy="543339"/>
            <a:chOff x="3432313" y="5535930"/>
            <a:chExt cx="6911008" cy="543339"/>
          </a:xfrm>
        </p:grpSpPr>
        <p:cxnSp>
          <p:nvCxnSpPr>
            <p:cNvPr id="27" name="直线连接符 25">
              <a:extLst>
                <a:ext uri="{FF2B5EF4-FFF2-40B4-BE49-F238E27FC236}">
                  <a16:creationId xmlns:a16="http://schemas.microsoft.com/office/drawing/2014/main" id="{44604F91-AB4C-294F-9337-2B8CC48C8EC5}"/>
                </a:ext>
              </a:extLst>
            </p:cNvPr>
            <p:cNvCxnSpPr/>
            <p:nvPr/>
          </p:nvCxnSpPr>
          <p:spPr>
            <a:xfrm>
              <a:off x="3703982" y="6072054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对角圆角矩形 27">
              <a:extLst>
                <a:ext uri="{FF2B5EF4-FFF2-40B4-BE49-F238E27FC236}">
                  <a16:creationId xmlns:a16="http://schemas.microsoft.com/office/drawing/2014/main" id="{E272513A-7057-5E45-BD3C-018F5437C7EE}"/>
                </a:ext>
              </a:extLst>
            </p:cNvPr>
            <p:cNvSpPr/>
            <p:nvPr/>
          </p:nvSpPr>
          <p:spPr>
            <a:xfrm>
              <a:off x="3432313" y="5535930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6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6" y="5576766"/>
              <a:ext cx="17188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Business </a:t>
              </a:r>
              <a:r>
                <a:rPr lang="en-US"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V</a:t>
              </a:r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alue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3420030"/>
            <a:ext cx="2857500" cy="28575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3267749" y="5078618"/>
            <a:ext cx="6911008" cy="543339"/>
            <a:chOff x="3432313" y="4574015"/>
            <a:chExt cx="6911008" cy="543339"/>
          </a:xfrm>
        </p:grpSpPr>
        <p:cxnSp>
          <p:nvCxnSpPr>
            <p:cNvPr id="33" name="直线连接符 22">
              <a:extLst>
                <a:ext uri="{FF2B5EF4-FFF2-40B4-BE49-F238E27FC236}">
                  <a16:creationId xmlns:a16="http://schemas.microsoft.com/office/drawing/2014/main" id="{62898963-F52B-714B-8D3D-3C6BDDD5048D}"/>
                </a:ext>
              </a:extLst>
            </p:cNvPr>
            <p:cNvCxnSpPr/>
            <p:nvPr/>
          </p:nvCxnSpPr>
          <p:spPr>
            <a:xfrm>
              <a:off x="3703982" y="5110139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对角圆角矩形 33">
              <a:extLst>
                <a:ext uri="{FF2B5EF4-FFF2-40B4-BE49-F238E27FC236}">
                  <a16:creationId xmlns:a16="http://schemas.microsoft.com/office/drawing/2014/main" id="{AF8DC714-CEAB-5040-8B74-52E7C64E1AC7}"/>
                </a:ext>
              </a:extLst>
            </p:cNvPr>
            <p:cNvSpPr/>
            <p:nvPr/>
          </p:nvSpPr>
          <p:spPr>
            <a:xfrm>
              <a:off x="3432313" y="4574015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7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4614851"/>
              <a:ext cx="26407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Demo &amp; Follow-up</a:t>
              </a:r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 Plan</a:t>
              </a:r>
              <a:endParaRPr kumimoji="1" lang="en-US" altLang="zh-CN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组合 35">
            <a:extLst>
              <a:ext uri="{FF2B5EF4-FFF2-40B4-BE49-F238E27FC236}">
                <a16:creationId xmlns:a16="http://schemas.microsoft.com/office/drawing/2014/main" id="{CB828CF8-2F4D-1DB5-B858-4FF8A7045548}"/>
              </a:ext>
            </a:extLst>
          </p:cNvPr>
          <p:cNvGrpSpPr/>
          <p:nvPr/>
        </p:nvGrpSpPr>
        <p:grpSpPr>
          <a:xfrm>
            <a:off x="3267749" y="5754431"/>
            <a:ext cx="6911008" cy="543339"/>
            <a:chOff x="3432313" y="5535930"/>
            <a:chExt cx="6911008" cy="543339"/>
          </a:xfrm>
        </p:grpSpPr>
        <p:cxnSp>
          <p:nvCxnSpPr>
            <p:cNvPr id="4" name="直线连接符 25">
              <a:extLst>
                <a:ext uri="{FF2B5EF4-FFF2-40B4-BE49-F238E27FC236}">
                  <a16:creationId xmlns:a16="http://schemas.microsoft.com/office/drawing/2014/main" id="{BE9C723F-78D7-F64B-01D7-B204DF78515A}"/>
                </a:ext>
              </a:extLst>
            </p:cNvPr>
            <p:cNvCxnSpPr/>
            <p:nvPr/>
          </p:nvCxnSpPr>
          <p:spPr>
            <a:xfrm>
              <a:off x="3703982" y="6072054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对角圆角矩形 37">
              <a:extLst>
                <a:ext uri="{FF2B5EF4-FFF2-40B4-BE49-F238E27FC236}">
                  <a16:creationId xmlns:a16="http://schemas.microsoft.com/office/drawing/2014/main" id="{02B5EA5D-687E-3B94-6F77-DD2D7E6732D4}"/>
                </a:ext>
              </a:extLst>
            </p:cNvPr>
            <p:cNvSpPr/>
            <p:nvPr/>
          </p:nvSpPr>
          <p:spPr>
            <a:xfrm>
              <a:off x="3432313" y="5535930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 dirty="0">
                  <a:cs typeface="Arial" panose="020B0604020202020204" pitchFamily="34" charset="0"/>
                </a:rPr>
                <a:t>8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" name="文本框 38">
              <a:extLst>
                <a:ext uri="{FF2B5EF4-FFF2-40B4-BE49-F238E27FC236}">
                  <a16:creationId xmlns:a16="http://schemas.microsoft.com/office/drawing/2014/main" id="{AD121E1C-D432-7C54-C6AC-3375293F4A3C}"/>
                </a:ext>
              </a:extLst>
            </p:cNvPr>
            <p:cNvSpPr txBox="1"/>
            <p:nvPr/>
          </p:nvSpPr>
          <p:spPr>
            <a:xfrm>
              <a:off x="4200936" y="5576766"/>
              <a:ext cx="16580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Achievements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085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996993" y="4167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 Introduction</a:t>
            </a:r>
            <a:endParaRPr lang="zh-CN" altLang="en-US" sz="2799" b="1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827" y="4940910"/>
            <a:ext cx="1757966" cy="1757966"/>
          </a:xfrm>
          <a:prstGeom prst="rect">
            <a:avLst/>
          </a:prstGeom>
        </p:spPr>
      </p:pic>
      <p:sp>
        <p:nvSpPr>
          <p:cNvPr id="10" name="Google Shape;1578;p16">
            <a:extLst>
              <a:ext uri="{FF2B5EF4-FFF2-40B4-BE49-F238E27FC236}">
                <a16:creationId xmlns:a16="http://schemas.microsoft.com/office/drawing/2014/main" id="{2FA042B2-A19C-4802-8F08-155729BEE0A8}"/>
              </a:ext>
            </a:extLst>
          </p:cNvPr>
          <p:cNvSpPr txBox="1"/>
          <p:nvPr/>
        </p:nvSpPr>
        <p:spPr>
          <a:xfrm>
            <a:off x="212502" y="4258278"/>
            <a:ext cx="3275063" cy="1270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Edu:  </a:t>
            </a: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Modern Academy Maadi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        Electrical, Electronics and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        Communication  Engineering  </a:t>
            </a:r>
            <a:endParaRPr lang="en-US" altLang="zh-CN" sz="1400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pen Sans"/>
              <a:sym typeface="Open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Role: </a:t>
            </a: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Data Analysis &amp; SQL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altLang="zh-CN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E</a:t>
            </a: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xperience</a:t>
            </a:r>
            <a:r>
              <a:rPr lang="zh-CN" alt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：</a:t>
            </a:r>
            <a:r>
              <a:rPr lang="en-US" altLang="zh-CN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E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xcellent with </a:t>
            </a:r>
            <a:r>
              <a:rPr lang="en-US" altLang="zh-CN" sz="1400" dirty="0" err="1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honors|NRO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TAC|Microwave </a:t>
            </a:r>
            <a:r>
              <a:rPr lang="en-US" altLang="zh-CN" sz="1400" dirty="0" err="1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Transmission|DWDM|Submarine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</a:t>
            </a:r>
            <a:r>
              <a:rPr lang="en-US" altLang="zh-CN" sz="1400" dirty="0" err="1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Cables|Technical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</a:t>
            </a:r>
            <a:r>
              <a:rPr lang="en-US" altLang="zh-CN" sz="1400" dirty="0" err="1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support|IP|Network|MPLS|Optical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Fiber</a:t>
            </a:r>
            <a:endParaRPr lang="en-US" sz="1400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pen Sans"/>
              <a:sym typeface="Open Sans"/>
            </a:endParaRPr>
          </a:p>
        </p:txBody>
      </p:sp>
      <p:sp>
        <p:nvSpPr>
          <p:cNvPr id="12" name="Google Shape;1579;p16">
            <a:extLst>
              <a:ext uri="{FF2B5EF4-FFF2-40B4-BE49-F238E27FC236}">
                <a16:creationId xmlns:a16="http://schemas.microsoft.com/office/drawing/2014/main" id="{D2B75F4C-6291-48A8-950B-1A3CC0080E1B}"/>
              </a:ext>
            </a:extLst>
          </p:cNvPr>
          <p:cNvSpPr txBox="1"/>
          <p:nvPr/>
        </p:nvSpPr>
        <p:spPr>
          <a:xfrm>
            <a:off x="4069270" y="4194196"/>
            <a:ext cx="2801686" cy="10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rgbClr val="000000"/>
              </a:buClr>
              <a:buSzPts val="1400"/>
            </a:pP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Edu: </a:t>
            </a: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Ain Shams University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       Computer Science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Role: </a:t>
            </a: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ML Modelling and Engineering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altLang="zh-CN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E</a:t>
            </a: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xperience</a:t>
            </a:r>
            <a:r>
              <a:rPr lang="zh-CN" alt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：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AI Engineering, Deep Learning, Machine Learning</a:t>
            </a:r>
            <a:endParaRPr lang="en-US" sz="1400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pen Sans"/>
              <a:sym typeface="Open Sans"/>
            </a:endParaRPr>
          </a:p>
        </p:txBody>
      </p:sp>
      <p:sp>
        <p:nvSpPr>
          <p:cNvPr id="16" name="Google Shape;1583;p16">
            <a:extLst>
              <a:ext uri="{FF2B5EF4-FFF2-40B4-BE49-F238E27FC236}">
                <a16:creationId xmlns:a16="http://schemas.microsoft.com/office/drawing/2014/main" id="{4EC067CC-A7E6-4B84-9070-18CC2351304D}"/>
              </a:ext>
            </a:extLst>
          </p:cNvPr>
          <p:cNvSpPr txBox="1"/>
          <p:nvPr/>
        </p:nvSpPr>
        <p:spPr>
          <a:xfrm>
            <a:off x="756425" y="3204384"/>
            <a:ext cx="1926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rgbClr val="000000"/>
              </a:buClr>
              <a:buSzPts val="1600"/>
            </a:pPr>
            <a:r>
              <a:rPr lang="en-US" sz="16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verpass Black"/>
                <a:sym typeface="Overpass Black"/>
              </a:rPr>
              <a:t>Micheal Samuel</a:t>
            </a:r>
            <a:endParaRPr sz="1600" b="0" i="0" u="none" strike="noStrike" cap="none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verpass Black"/>
              <a:sym typeface="Overpass Black"/>
            </a:endParaRPr>
          </a:p>
        </p:txBody>
      </p:sp>
      <p:sp>
        <p:nvSpPr>
          <p:cNvPr id="17" name="Google Shape;1584;p16">
            <a:extLst>
              <a:ext uri="{FF2B5EF4-FFF2-40B4-BE49-F238E27FC236}">
                <a16:creationId xmlns:a16="http://schemas.microsoft.com/office/drawing/2014/main" id="{9E89A1B2-A0D8-4F7E-925C-39A336AD73B7}"/>
              </a:ext>
            </a:extLst>
          </p:cNvPr>
          <p:cNvSpPr txBox="1"/>
          <p:nvPr/>
        </p:nvSpPr>
        <p:spPr>
          <a:xfrm>
            <a:off x="4367157" y="3179274"/>
            <a:ext cx="1926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  <a:sym typeface="Arial"/>
              </a:rPr>
              <a:t>Mark Maged</a:t>
            </a:r>
            <a:endParaRPr sz="1400" b="0" i="0" u="none" strike="noStrike" cap="none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/>
              <a:sym typeface="Arial"/>
            </a:endParaRPr>
          </a:p>
        </p:txBody>
      </p:sp>
      <p:sp>
        <p:nvSpPr>
          <p:cNvPr id="18" name="Google Shape;1585;p16">
            <a:extLst>
              <a:ext uri="{FF2B5EF4-FFF2-40B4-BE49-F238E27FC236}">
                <a16:creationId xmlns:a16="http://schemas.microsoft.com/office/drawing/2014/main" id="{DFDC060B-0407-45DA-8782-14E8524017C3}"/>
              </a:ext>
            </a:extLst>
          </p:cNvPr>
          <p:cNvSpPr txBox="1"/>
          <p:nvPr/>
        </p:nvSpPr>
        <p:spPr>
          <a:xfrm>
            <a:off x="7761399" y="3157563"/>
            <a:ext cx="2337479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verpass Black"/>
                <a:sym typeface="Overpass Black"/>
              </a:rPr>
              <a:t>George Tawadrous</a:t>
            </a:r>
            <a:endParaRPr sz="1600" b="0" i="0" u="none" strike="noStrike" cap="none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verpass Black"/>
              <a:sym typeface="Overpass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29CE1-C263-95F2-C2B2-039BB4130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25" y="1246084"/>
            <a:ext cx="1958300" cy="1958300"/>
          </a:xfrm>
          <a:prstGeom prst="rect">
            <a:avLst/>
          </a:prstGeom>
        </p:spPr>
      </p:pic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4BA5D739-010C-5D5A-0F8F-47DADFA22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719" y="1237764"/>
            <a:ext cx="1919799" cy="191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8898B5BA-703B-9085-355E-224A6B3C4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825" y="1198604"/>
            <a:ext cx="1919800" cy="19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579;p16">
            <a:extLst>
              <a:ext uri="{FF2B5EF4-FFF2-40B4-BE49-F238E27FC236}">
                <a16:creationId xmlns:a16="http://schemas.microsoft.com/office/drawing/2014/main" id="{7816AE6E-AF16-E2E8-BFA1-8026EB7F4845}"/>
              </a:ext>
            </a:extLst>
          </p:cNvPr>
          <p:cNvSpPr txBox="1"/>
          <p:nvPr/>
        </p:nvSpPr>
        <p:spPr>
          <a:xfrm>
            <a:off x="7589776" y="4124477"/>
            <a:ext cx="3677108" cy="10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rgbClr val="000000"/>
              </a:buClr>
              <a:buSzPts val="1400"/>
            </a:pP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Edu: </a:t>
            </a: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Ain Shams University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       Computer and Systems 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        Engineering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Role: </a:t>
            </a:r>
            <a:r>
              <a:rPr lang="en-US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Cloud Solution Architect , DevOps and </a:t>
            </a:r>
            <a:r>
              <a:rPr lang="en-US" sz="1400" dirty="0" err="1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MLOps</a:t>
            </a:r>
            <a:endParaRPr lang="en-US" sz="1400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pen Sans"/>
              <a:sym typeface="Open Sans"/>
            </a:endParaRPr>
          </a:p>
          <a:p>
            <a:pPr lvl="0">
              <a:buClr>
                <a:srgbClr val="000000"/>
              </a:buClr>
              <a:buSzPts val="1400"/>
            </a:pPr>
            <a:r>
              <a:rPr lang="en-US" altLang="zh-CN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E</a:t>
            </a:r>
            <a:r>
              <a:rPr 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xperience</a:t>
            </a:r>
            <a:r>
              <a:rPr lang="zh-CN" altLang="en-US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：</a:t>
            </a:r>
            <a:r>
              <a:rPr lang="en-US" altLang="zh-CN" sz="1400" b="1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G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rade @ </a:t>
            </a:r>
            <a:r>
              <a:rPr lang="en-US" altLang="zh-CN" sz="1400" dirty="0" err="1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uni</a:t>
            </a:r>
            <a:r>
              <a:rPr lang="en-US" altLang="zh-CN" sz="1400" dirty="0">
                <a:solidFill>
                  <a:schemeClr val="dk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en Sans"/>
                <a:sym typeface="Open Sans"/>
              </a:rPr>
              <a:t>: Excellent/Full Stack Web Development/Flutter Mobile Development/ML Modelling/ Huawei Cloud Certified Engineer</a:t>
            </a:r>
            <a:endParaRPr lang="en-US" sz="1400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0051D-2B57-921B-9845-44A5A0F5EAEF}"/>
              </a:ext>
            </a:extLst>
          </p:cNvPr>
          <p:cNvSpPr txBox="1"/>
          <p:nvPr/>
        </p:nvSpPr>
        <p:spPr>
          <a:xfrm>
            <a:off x="-24230" y="6098234"/>
            <a:ext cx="329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6"/>
              </a:rPr>
              <a:t>https://www.linkedin.com/in/micheal-samwel/</a:t>
            </a:r>
            <a:r>
              <a:rPr lang="en-US" sz="1200"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6D9DA-D277-9EFF-6C2F-547B7D44756E}"/>
              </a:ext>
            </a:extLst>
          </p:cNvPr>
          <p:cNvSpPr txBox="1"/>
          <p:nvPr/>
        </p:nvSpPr>
        <p:spPr>
          <a:xfrm>
            <a:off x="3728012" y="5474452"/>
            <a:ext cx="3498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7"/>
              </a:rPr>
              <a:t>https://www.linkedin.com/in/mark-maged/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22E42-DA5F-7BEC-898A-58DE8DE04E5E}"/>
              </a:ext>
            </a:extLst>
          </p:cNvPr>
          <p:cNvSpPr txBox="1"/>
          <p:nvPr/>
        </p:nvSpPr>
        <p:spPr>
          <a:xfrm>
            <a:off x="7379539" y="5483519"/>
            <a:ext cx="39528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8"/>
              </a:rPr>
              <a:t>https://www.linkedin.com/in/the3miaphysite3engineer3/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046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 u="none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Project Introduction</a:t>
            </a:r>
            <a:endParaRPr lang="zh-CN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21" y="1108614"/>
            <a:ext cx="10729366" cy="4239241"/>
          </a:xfrm>
        </p:spPr>
        <p:txBody>
          <a:bodyPr>
            <a:norm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AI-Powered Student Retention System</a:t>
            </a:r>
            <a:r>
              <a:rPr lang="en-US" sz="1600" dirty="0"/>
              <a:t> is a cutting-edge </a:t>
            </a:r>
            <a:r>
              <a:rPr lang="en-US" sz="1600" dirty="0" err="1"/>
              <a:t>MLOps</a:t>
            </a:r>
            <a:r>
              <a:rPr lang="en-US" sz="1600" dirty="0"/>
              <a:t> solution built on the </a:t>
            </a:r>
            <a:r>
              <a:rPr lang="en-US" sz="1600" b="1" dirty="0"/>
              <a:t>Huawei Cloud</a:t>
            </a:r>
            <a:r>
              <a:rPr lang="en-US" sz="1600" dirty="0"/>
              <a:t> platform, specifically designed to combat student attrition within educational institutions. Leveraging predictive analytics and state-of-the-art Generative AI, this project transforms passive data into proactive, actionable insights, marking a significant step forward in academic support and resource optimization.</a:t>
            </a:r>
          </a:p>
          <a:p>
            <a:r>
              <a:rPr lang="en-US" sz="1600" b="1" dirty="0"/>
              <a:t>🎯 The Challenge</a:t>
            </a:r>
          </a:p>
          <a:p>
            <a:r>
              <a:rPr lang="en-US" sz="1600" dirty="0"/>
              <a:t>Student dropout (churn) represents a major financial, reputational, and administrative challenge for educational providers. Traditional retention methods are often reactive and generalized, failing to intervene effectively before a student is irreversibly disengaged.</a:t>
            </a:r>
          </a:p>
          <a:p>
            <a:r>
              <a:rPr lang="en-US" sz="1600" b="1" dirty="0"/>
              <a:t>✨ The Solution</a:t>
            </a:r>
          </a:p>
          <a:p>
            <a:r>
              <a:rPr lang="en-US" sz="1600" dirty="0"/>
              <a:t>This system addresses the challenge by establishing an automated, event-driven pipeline that provides two critical outputs:</a:t>
            </a:r>
          </a:p>
          <a:p>
            <a:r>
              <a:rPr lang="en-US" sz="1600" b="1" dirty="0"/>
              <a:t>Predictive Churn Risk:</a:t>
            </a:r>
            <a:r>
              <a:rPr lang="en-US" sz="1600" dirty="0"/>
              <a:t> A high-accuracy machine learning model (trained via </a:t>
            </a:r>
            <a:r>
              <a:rPr lang="en-US" sz="1600" b="1" dirty="0" err="1"/>
              <a:t>ModelArts</a:t>
            </a:r>
            <a:r>
              <a:rPr lang="en-US" sz="1600" dirty="0"/>
              <a:t>) that analyzes student demographic and academic data to classify their outcome as </a:t>
            </a:r>
            <a:r>
              <a:rPr lang="en-US" sz="1600" b="1" dirty="0"/>
              <a:t>Dropout</a:t>
            </a:r>
            <a:r>
              <a:rPr lang="en-US" sz="1600" dirty="0"/>
              <a:t>, </a:t>
            </a:r>
            <a:r>
              <a:rPr lang="en-US" sz="1600" b="1" dirty="0"/>
              <a:t>Enrolled</a:t>
            </a:r>
            <a:r>
              <a:rPr lang="en-US" sz="1600" dirty="0"/>
              <a:t>, or </a:t>
            </a:r>
            <a:r>
              <a:rPr lang="en-US" sz="1600" b="1" dirty="0"/>
              <a:t>Graduate</a:t>
            </a:r>
            <a:r>
              <a:rPr lang="en-US" sz="1600" dirty="0"/>
              <a:t>.</a:t>
            </a:r>
          </a:p>
          <a:p>
            <a:r>
              <a:rPr lang="en-US" sz="1600" b="1" dirty="0"/>
              <a:t>AI-Driven Intervention Advice:</a:t>
            </a:r>
            <a:r>
              <a:rPr lang="en-US" sz="1600" dirty="0"/>
              <a:t> A unique </a:t>
            </a:r>
            <a:r>
              <a:rPr lang="en-US" sz="1600" b="1" dirty="0"/>
              <a:t>Retrieval-Augmented Generation (RAG)</a:t>
            </a:r>
            <a:r>
              <a:rPr lang="en-US" sz="1600" dirty="0"/>
              <a:t> system embedded within a </a:t>
            </a:r>
            <a:r>
              <a:rPr lang="en-US" sz="1600" b="1" dirty="0" err="1"/>
              <a:t>Streamlit</a:t>
            </a:r>
            <a:r>
              <a:rPr lang="en-US" sz="1600" dirty="0"/>
              <a:t> dashboard, providing counselors with personalized, conversational advice (the "AI Counselor Chat") for retaining specific at-risk students.</a:t>
            </a:r>
          </a:p>
          <a:p>
            <a:pPr>
              <a:lnSpc>
                <a:spcPct val="150000"/>
              </a:lnSpc>
            </a:pPr>
            <a:endParaRPr lang="en-US" altLang="zh-CN" sz="1599" dirty="0">
              <a:ea typeface="方正兰亭黑简体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9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Architecture</a:t>
            </a:r>
            <a:endParaRPr lang="zh-CN" altLang="en-US" sz="2799" b="1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F0181813-D0D4-9017-B5DA-77AD07385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474" y="824474"/>
            <a:ext cx="9702196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Event-Driven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MLOps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Pipeline Core: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initiates automatically when new student data is uploaded 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 (Object Storage Service)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This event triggers a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FunctionGraph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(FG)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serverless function, which acts as the central orchestrator, ensuring a zero-touch, automated start to the data processing and training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Data Engineering and Feature Store: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FunctionGraph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invokes 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ECS 1 (Node.js)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for robust ETL. This process converts the raw data, executes complex SQL scripts (like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02_feature_extraction.sql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and loads the structured, feature-engineered data into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RDS (MySQL)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serves as the central feature and reporting store.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ML Training and Real-Time Deployment: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FunctionGraph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concurrently triggers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train the churn prediction model (e.g.,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Post-training, the model is automatically deployed as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Prediction Service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providing a low-latency API endpoint for live inference, decoupling prediction logic from the frontend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Layer and Real-Time Inference: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user interface is hosted on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ECS 2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running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This application retrieves data visualizations from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and, critically, sends student data in real-time to the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 Service Endpoint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receive instant churn risk scores, ensuring the application always uses the production-grade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AI-Driven Retention Strategy (RAG):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application features a unique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Counselor Chat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powered by DeepSeek, Qwen &amp;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 implied by the RAG system and imports in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streamlit.py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This Retrieval-Augmented Generation (RAG) system uses the student's real-time risk score and retrieved profile data as context to generate personalized, conversational, and actionable retention advice.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43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Architecture</a:t>
            </a:r>
            <a:r>
              <a:rPr lang="en-US"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2000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sz="2000" b="1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sz="2000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olution Overview</a:t>
            </a:r>
            <a:endParaRPr sz="2000" b="1" u="none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890" y="993284"/>
            <a:ext cx="10729366" cy="357721"/>
          </a:xfrm>
        </p:spPr>
        <p:txBody>
          <a:bodyPr>
            <a:normAutofit fontScale="85000" lnSpcReduction="20000"/>
          </a:bodyPr>
          <a:lstStyle/>
          <a:p>
            <a:pPr marL="285636" indent="-2856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u="none" dirty="0">
                <a:solidFill>
                  <a:schemeClr val="bg1">
                    <a:lumMod val="65000"/>
                  </a:schemeClr>
                </a:solidFill>
              </a:rPr>
              <a:t>Solution deployment architecture diagram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196713" y="1122794"/>
            <a:ext cx="38221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Font typeface="Wingdings" pitchFamily="2" charset="2"/>
              <a:buNone/>
            </a:pPr>
            <a:r>
              <a:rPr b="1" u="none" dirty="0">
                <a:solidFill>
                  <a:schemeClr val="bg1">
                    <a:lumMod val="65000"/>
                  </a:schemeClr>
                </a:solidFill>
              </a:rPr>
              <a:t>Service Description</a:t>
            </a:r>
            <a:endParaRPr lang="en-US" b="1" u="none" dirty="0">
              <a:solidFill>
                <a:schemeClr val="bg1">
                  <a:lumMod val="65000"/>
                </a:schemeClr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Font typeface="Wingdings" pitchFamily="2" charset="2"/>
              <a:buNone/>
            </a:pPr>
            <a:endParaRPr lang="en-US" altLang="zh-CN" b="1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343C559-41D7-C7FA-3B45-48059AC2E1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084637"/>
            <a:ext cx="2496763" cy="249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9A7F84AE-35BE-2F6B-8ABD-09F8C2513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459" y="1445704"/>
            <a:ext cx="609254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Event-Driven Data Ingestion (OBS &amp;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FunctionGraph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entire pipeline is initiated by an event: a new CSV file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students_churn.csv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is uploaded to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 (Object Storage Service)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event triggers the serverless orchestrator,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FunctionGraph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(FG)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the workflow is fully automated and immediately responsive to new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ETL and Feature Engineering (ECS 1 &amp; RDS):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FunctionGraph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invokes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ECS 1 (Node.js)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the critical ETL process. The Node.js application converts the CSV and loads it into the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RDS (MySQL)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scripts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00_create_dataset.sql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02_feature_extraction.sql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are executed on RDS to create tables and generate derived features (e.g., pass rates, average grades), establishing RDS as the reliable Feature Store.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Managed Model Training (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Notebook):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Concurrently,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FunctionGraph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triggers a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notebook is responsible for reading data, preprocessing, training the prediction model, and saving the resulting model and scaler objects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pkl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back to OBS.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Model Deployment (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Service):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trained model from OBS is registered and deployed by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high-availability Real-Time Prediction Service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(API Endpoint). This standardizes inference and decouples the heavy ML model from the application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Front-End and Data Access (ECS 2 &amp; RDS):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ECS 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hosts the user-facing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dashboard. It retrieves aggregated data and reporting metrics from the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RDS (MySQL)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Store for dashboard visualizations.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Low-Latency Inference via API: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live predictions, the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load the PKL file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instead, it sends student features directly to the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Service API Endpoint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This ensures predictions are fast, scalable, and use the centrally managed production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Recommendation Engine (RAG/DeepSeek/Qwen/Gemini):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integrates a unique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Counselor Chat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via a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(RAG)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powered by DeepSeek, Qwen &amp; 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RAG system combines the real-time churn prediction score with the student's detailed profile (retrieved from RDS) to generate nuanced, contextual, and actionable retention advice for the end-user.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734B9-9CF1-03AE-A186-C7F4CFB8B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31" y="1544829"/>
            <a:ext cx="4327071" cy="432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9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2799" b="1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Architecture</a:t>
            </a:r>
            <a:r>
              <a:rPr lang="en-US"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2000" b="1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Huawei Cloud </a:t>
            </a:r>
            <a:r>
              <a:rPr lang="en-US" sz="2000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Service Dashboard</a:t>
            </a:r>
            <a:endParaRPr sz="2799" b="1" u="none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6EBDB4-483B-4CC6-AD72-8CA60D04D787}"/>
              </a:ext>
            </a:extLst>
          </p:cNvPr>
          <p:cNvSpPr/>
          <p:nvPr/>
        </p:nvSpPr>
        <p:spPr>
          <a:xfrm>
            <a:off x="1373629" y="957972"/>
            <a:ext cx="961473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Using Huawei Cloud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ModelArt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Deployment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70E0A1-A3BD-42B9-B9C4-E9143C51D84C}"/>
              </a:ext>
            </a:extLst>
          </p:cNvPr>
          <p:cNvSpPr/>
          <p:nvPr/>
        </p:nvSpPr>
        <p:spPr>
          <a:xfrm>
            <a:off x="6406309" y="3340763"/>
            <a:ext cx="4264116" cy="377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Using Huawei Cloud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ModelArt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for AI 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F512E-D0CD-AB1C-97CB-5C97D7A65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37" y="3854553"/>
            <a:ext cx="4744564" cy="2586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83BC07-9B0A-D65D-BA84-F57CAA6C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46" y="1385454"/>
            <a:ext cx="6040828" cy="302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1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Functions</a:t>
            </a:r>
            <a:endParaRPr lang="zh-CN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317" y="1327275"/>
            <a:ext cx="10729366" cy="4399269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⚙️ Technical Architecture: 7-Point Summary</a:t>
            </a:r>
          </a:p>
          <a:p>
            <a:r>
              <a:rPr lang="en-US" b="1" dirty="0"/>
              <a:t>Event-Driven Pipeline Core (OBS &amp; </a:t>
            </a:r>
            <a:r>
              <a:rPr lang="en-US" b="1" dirty="0" err="1"/>
              <a:t>FunctionGraph</a:t>
            </a:r>
            <a:r>
              <a:rPr lang="en-US" b="1" dirty="0"/>
              <a:t>):</a:t>
            </a:r>
            <a:r>
              <a:rPr lang="en-US" dirty="0"/>
              <a:t> The entire </a:t>
            </a:r>
            <a:r>
              <a:rPr lang="en-US" dirty="0" err="1"/>
              <a:t>MLOps</a:t>
            </a:r>
            <a:r>
              <a:rPr lang="en-US" dirty="0"/>
              <a:t> workflow is event-driven. An upload of the raw student data CSV to </a:t>
            </a:r>
            <a:r>
              <a:rPr lang="en-US" b="1" dirty="0"/>
              <a:t>OBS (Object Storage Service)</a:t>
            </a:r>
            <a:r>
              <a:rPr lang="en-US" dirty="0"/>
              <a:t> immediately triggers the </a:t>
            </a:r>
            <a:r>
              <a:rPr lang="en-US" b="1" dirty="0" err="1"/>
              <a:t>FunctionGraph</a:t>
            </a:r>
            <a:r>
              <a:rPr lang="en-US" b="1" dirty="0"/>
              <a:t> (FG)</a:t>
            </a:r>
            <a:r>
              <a:rPr lang="en-US" dirty="0"/>
              <a:t> serverless orchestrator. This eliminates the need for manual scheduling or polling, ensuring the pipeline starts automatically with new data.</a:t>
            </a:r>
          </a:p>
          <a:p>
            <a:r>
              <a:rPr lang="en-US" b="1" dirty="0"/>
              <a:t>Parallel Data Processing Initiation:</a:t>
            </a:r>
            <a:r>
              <a:rPr lang="en-US" dirty="0"/>
              <a:t> </a:t>
            </a:r>
            <a:r>
              <a:rPr lang="en-US" dirty="0" err="1"/>
              <a:t>FunctionGraph</a:t>
            </a:r>
            <a:r>
              <a:rPr lang="en-US" dirty="0"/>
              <a:t> concurrently invokes two main processing flows:</a:t>
            </a:r>
          </a:p>
          <a:p>
            <a:pPr lvl="1"/>
            <a:r>
              <a:rPr lang="en-US" b="1" dirty="0"/>
              <a:t>ECS 1 (Node.js ETL)</a:t>
            </a:r>
            <a:r>
              <a:rPr lang="en-US" dirty="0"/>
              <a:t> for database operations.</a:t>
            </a:r>
          </a:p>
          <a:p>
            <a:pPr lvl="1"/>
            <a:r>
              <a:rPr lang="en-US" b="1" dirty="0" err="1"/>
              <a:t>ModelArts</a:t>
            </a:r>
            <a:r>
              <a:rPr lang="en-US" dirty="0"/>
              <a:t> for model training.</a:t>
            </a:r>
          </a:p>
          <a:p>
            <a:r>
              <a:rPr lang="en-US" b="1" dirty="0"/>
              <a:t>Data Persistence and Feature Engineering (ECS 1 &amp; RDS):</a:t>
            </a:r>
            <a:endParaRPr lang="en-US" dirty="0"/>
          </a:p>
          <a:p>
            <a:pPr lvl="1"/>
            <a:r>
              <a:rPr lang="en-US" dirty="0"/>
              <a:t>The Node.js application running on </a:t>
            </a:r>
            <a:r>
              <a:rPr lang="en-US" b="1" dirty="0"/>
              <a:t>ECS 1</a:t>
            </a:r>
            <a:r>
              <a:rPr lang="en-US" dirty="0"/>
              <a:t> performs the ETL, transforming the CSV data and persisting it to </a:t>
            </a:r>
            <a:r>
              <a:rPr lang="en-US" b="1" dirty="0"/>
              <a:t>RDS (MySQL)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step is crucial for running the necessary SQL feature extraction scripts (02_feature_extraction.sql), turning raw data into calculated features like </a:t>
            </a:r>
            <a:r>
              <a:rPr lang="en-US" dirty="0" err="1"/>
              <a:t>First_sem_pass_rate</a:t>
            </a:r>
            <a:r>
              <a:rPr lang="en-US" dirty="0"/>
              <a:t> and </a:t>
            </a:r>
            <a:r>
              <a:rPr lang="en-US" b="1" dirty="0" err="1"/>
              <a:t>Average_grade</a:t>
            </a:r>
            <a:r>
              <a:rPr lang="en-US" dirty="0"/>
              <a:t>, making RDS the central Feature Store.</a:t>
            </a:r>
          </a:p>
          <a:p>
            <a:r>
              <a:rPr lang="en-US" b="1" dirty="0"/>
              <a:t>Model Training and Asset Management (</a:t>
            </a:r>
            <a:r>
              <a:rPr lang="en-US" b="1" dirty="0" err="1"/>
              <a:t>ModelArts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 err="1"/>
              <a:t>ModelArts</a:t>
            </a:r>
            <a:r>
              <a:rPr lang="en-US" b="1" dirty="0"/>
              <a:t> 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trains the churn prediction model (e.g., </a:t>
            </a:r>
            <a:r>
              <a:rPr lang="en-US" dirty="0" err="1"/>
              <a:t>XGBoost</a:t>
            </a:r>
            <a:r>
              <a:rPr lang="en-US" dirty="0"/>
              <a:t>) and saves the final trained model (.</a:t>
            </a:r>
            <a:r>
              <a:rPr lang="en-US" dirty="0" err="1"/>
              <a:t>pkl</a:t>
            </a:r>
            <a:r>
              <a:rPr lang="en-US" dirty="0"/>
              <a:t> file) and scaler object back to </a:t>
            </a:r>
            <a:r>
              <a:rPr lang="en-US" b="1" dirty="0"/>
              <a:t>OBS</a:t>
            </a:r>
            <a:r>
              <a:rPr lang="en-US" dirty="0"/>
              <a:t> for secure versioning and storage.</a:t>
            </a:r>
          </a:p>
          <a:p>
            <a:r>
              <a:rPr lang="en-US" b="1" dirty="0"/>
              <a:t>Real-Time Model Deployment (</a:t>
            </a:r>
            <a:r>
              <a:rPr lang="en-US" b="1" dirty="0" err="1"/>
              <a:t>ModelArts</a:t>
            </a:r>
            <a:r>
              <a:rPr lang="en-US" b="1" dirty="0"/>
              <a:t> Service):</a:t>
            </a:r>
            <a:endParaRPr lang="en-US" dirty="0"/>
          </a:p>
          <a:p>
            <a:pPr lvl="1"/>
            <a:r>
              <a:rPr lang="en-US" dirty="0"/>
              <a:t>The trained model is promoted and deployed via </a:t>
            </a:r>
            <a:r>
              <a:rPr lang="en-US" dirty="0" err="1"/>
              <a:t>ModelArts</a:t>
            </a:r>
            <a:r>
              <a:rPr lang="en-US" dirty="0"/>
              <a:t> as a dedicated </a:t>
            </a:r>
            <a:r>
              <a:rPr lang="en-US" b="1" dirty="0"/>
              <a:t>Real-Time Prediction Service</a:t>
            </a:r>
            <a:r>
              <a:rPr lang="en-US" dirty="0"/>
              <a:t>. This action creates a robust, scalable API endpoint, allowing the application layer to consume predictions instantly without having to load the large model file into memory on the </a:t>
            </a:r>
            <a:r>
              <a:rPr lang="en-US" dirty="0" err="1"/>
              <a:t>Streamlit</a:t>
            </a:r>
            <a:r>
              <a:rPr lang="en-US" dirty="0"/>
              <a:t> ECS.</a:t>
            </a:r>
          </a:p>
          <a:p>
            <a:r>
              <a:rPr lang="en-US" b="1" dirty="0"/>
              <a:t>Application Delivery and Low-Latency Inference (ECS 2):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ECS 2</a:t>
            </a:r>
            <a:r>
              <a:rPr lang="en-US" dirty="0"/>
              <a:t> running the </a:t>
            </a:r>
            <a:r>
              <a:rPr lang="en-US" b="1" dirty="0" err="1"/>
              <a:t>Streamlit</a:t>
            </a:r>
            <a:r>
              <a:rPr lang="en-US" dirty="0"/>
              <a:t> dashboard acts as the application gateway. It fetches structured data for visualization from </a:t>
            </a:r>
            <a:r>
              <a:rPr lang="en-US" b="1" dirty="0"/>
              <a:t>RDS</a:t>
            </a:r>
            <a:r>
              <a:rPr lang="en-US" dirty="0"/>
              <a:t> and makes </a:t>
            </a:r>
            <a:r>
              <a:rPr lang="en-US" b="1" dirty="0"/>
              <a:t>direct API calls</a:t>
            </a:r>
            <a:r>
              <a:rPr lang="en-US" dirty="0"/>
              <a:t> to the </a:t>
            </a:r>
            <a:r>
              <a:rPr lang="en-US" b="1" dirty="0" err="1"/>
              <a:t>ModelArts</a:t>
            </a:r>
            <a:r>
              <a:rPr lang="en-US" b="1" dirty="0"/>
              <a:t> Real-Time Service</a:t>
            </a:r>
            <a:r>
              <a:rPr lang="en-US" dirty="0"/>
              <a:t> for on-demand churn predictions.</a:t>
            </a:r>
          </a:p>
          <a:p>
            <a:r>
              <a:rPr lang="en-US" b="1" dirty="0"/>
              <a:t>AI-Driven Decision Support (RAG System):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dirty="0" err="1"/>
              <a:t>Streamlit</a:t>
            </a:r>
            <a:r>
              <a:rPr lang="en-US" dirty="0"/>
              <a:t> application features the unique </a:t>
            </a:r>
            <a:r>
              <a:rPr lang="en-US" b="1" dirty="0"/>
              <a:t>AI Counselor Chat</a:t>
            </a:r>
            <a:r>
              <a:rPr lang="en-US" dirty="0"/>
              <a:t>. This system uses </a:t>
            </a:r>
            <a:r>
              <a:rPr lang="en-US" b="1" dirty="0"/>
              <a:t>Retrieval-Augmented Generation (RAG)</a:t>
            </a:r>
            <a:r>
              <a:rPr lang="en-US" dirty="0"/>
              <a:t> powered by </a:t>
            </a:r>
            <a:r>
              <a:rPr lang="en-US" b="1" dirty="0"/>
              <a:t>Gemini, DeepSeek, Qwen</a:t>
            </a:r>
            <a:r>
              <a:rPr lang="en-US" dirty="0"/>
              <a:t>. It synthesizes the real-time churn prediction score with the student's contextual feature data to generate personalized, human-like intervention and retention advice.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0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799" b="1" dirty="0" err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Inovations</a:t>
            </a:r>
            <a:endParaRPr lang="zh-CN" altLang="en-US" sz="2799" b="1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5982E-1AD3-A4F1-14CF-7E26FE8AD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469" y="1510660"/>
            <a:ext cx="8961582" cy="2358241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Google Sans Text"/>
              </a:rPr>
              <a:t>Hyper-Automated, Event-Driven </a:t>
            </a:r>
            <a:r>
              <a:rPr lang="en-US" altLang="en-US" sz="1200" b="1" dirty="0" err="1">
                <a:latin typeface="Google Sans Text"/>
              </a:rPr>
              <a:t>MLOps</a:t>
            </a:r>
            <a:r>
              <a:rPr lang="en-US" altLang="en-US" sz="1200" b="1" dirty="0">
                <a:latin typeface="Google Sans Text"/>
              </a:rPr>
              <a:t> Loop:</a:t>
            </a:r>
            <a:endParaRPr lang="en-US" altLang="en-US" sz="1200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Google Sans Text"/>
              </a:rPr>
              <a:t>The architecture achieves </a:t>
            </a:r>
            <a:r>
              <a:rPr lang="en-US" altLang="en-US" sz="1200" b="1" dirty="0">
                <a:latin typeface="Google Sans Text"/>
              </a:rPr>
              <a:t>zero-touch automation</a:t>
            </a:r>
            <a:r>
              <a:rPr lang="en-US" altLang="en-US" sz="1200" dirty="0">
                <a:latin typeface="Google Sans Text"/>
              </a:rPr>
              <a:t> by using the </a:t>
            </a:r>
            <a:r>
              <a:rPr lang="en-US" altLang="en-US" sz="1200" b="1" dirty="0">
                <a:latin typeface="Google Sans Text"/>
              </a:rPr>
              <a:t>OBS to </a:t>
            </a:r>
            <a:r>
              <a:rPr lang="en-US" altLang="en-US" sz="1200" b="1" dirty="0" err="1">
                <a:latin typeface="Google Sans Text"/>
              </a:rPr>
              <a:t>FunctionGraph</a:t>
            </a:r>
            <a:r>
              <a:rPr lang="en-US" altLang="en-US" sz="1200" b="1" dirty="0">
                <a:latin typeface="Google Sans Text"/>
              </a:rPr>
              <a:t> (FG)</a:t>
            </a:r>
            <a:r>
              <a:rPr lang="en-US" altLang="en-US" sz="1200" dirty="0">
                <a:latin typeface="Google Sans Text"/>
              </a:rPr>
              <a:t> sequence as the primary trigger. This is a robust </a:t>
            </a:r>
            <a:r>
              <a:rPr lang="en-US" altLang="en-US" sz="1200" dirty="0" err="1">
                <a:latin typeface="Google Sans Text"/>
              </a:rPr>
              <a:t>MLOps</a:t>
            </a:r>
            <a:r>
              <a:rPr lang="en-US" altLang="en-US" sz="1200" dirty="0">
                <a:latin typeface="Google Sans Text"/>
              </a:rPr>
              <a:t> practice that ensures that model retraining and redeployment (when a new students_churn.csv is uploaded) is an immediate, hands-off process, minimizing model drift and operational overhead.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Google Sans Text"/>
              </a:rPr>
              <a:t>Real-Time Decoupled Inference with </a:t>
            </a:r>
            <a:r>
              <a:rPr lang="en-US" altLang="en-US" sz="1200" b="1" dirty="0" err="1">
                <a:latin typeface="Google Sans Text"/>
              </a:rPr>
              <a:t>ModelArts</a:t>
            </a:r>
            <a:r>
              <a:rPr lang="en-US" altLang="en-US" sz="1200" b="1" dirty="0">
                <a:latin typeface="Google Sans Text"/>
              </a:rPr>
              <a:t>:</a:t>
            </a:r>
            <a:endParaRPr lang="en-US" altLang="en-US" sz="1200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Google Sans Text"/>
              </a:rPr>
              <a:t>Unlike systems where the web app (ECS 2/</a:t>
            </a:r>
            <a:r>
              <a:rPr lang="en-US" altLang="en-US" sz="1200" dirty="0" err="1">
                <a:latin typeface="Google Sans Text"/>
              </a:rPr>
              <a:t>Streamlit</a:t>
            </a:r>
            <a:r>
              <a:rPr lang="en-US" altLang="en-US" sz="1200" dirty="0">
                <a:latin typeface="Google Sans Text"/>
              </a:rPr>
              <a:t>) manually loads the model (.</a:t>
            </a:r>
            <a:r>
              <a:rPr lang="en-US" altLang="en-US" sz="1200" dirty="0" err="1">
                <a:latin typeface="Google Sans Text"/>
              </a:rPr>
              <a:t>pkl</a:t>
            </a:r>
            <a:r>
              <a:rPr lang="en-US" altLang="en-US" sz="1200" dirty="0">
                <a:latin typeface="Google Sans Text"/>
              </a:rPr>
              <a:t> file), this solution deploys the model as a </a:t>
            </a:r>
            <a:r>
              <a:rPr lang="en-US" altLang="en-US" sz="1200" b="1" dirty="0" err="1">
                <a:latin typeface="Google Sans Text"/>
              </a:rPr>
              <a:t>ModelArts</a:t>
            </a:r>
            <a:r>
              <a:rPr lang="en-US" altLang="en-US" sz="1200" b="1" dirty="0">
                <a:latin typeface="Google Sans Text"/>
              </a:rPr>
              <a:t> Real-Time Service API Endpoint</a:t>
            </a:r>
            <a:r>
              <a:rPr lang="en-US" altLang="en-US" sz="1200" dirty="0">
                <a:latin typeface="Google Sans Text"/>
              </a:rPr>
              <a:t>. This key innovation allows the </a:t>
            </a:r>
            <a:r>
              <a:rPr lang="en-US" altLang="en-US" sz="1200" dirty="0" err="1">
                <a:latin typeface="Google Sans Text"/>
              </a:rPr>
              <a:t>Streamlit</a:t>
            </a:r>
            <a:r>
              <a:rPr lang="en-US" altLang="en-US" sz="1200" dirty="0">
                <a:latin typeface="Google Sans Text"/>
              </a:rPr>
              <a:t> app to request </a:t>
            </a:r>
            <a:r>
              <a:rPr lang="en-US" altLang="en-US" sz="1200" b="1" dirty="0">
                <a:latin typeface="Google Sans Text"/>
              </a:rPr>
              <a:t>low-latency predictions</a:t>
            </a:r>
            <a:r>
              <a:rPr lang="en-US" altLang="en-US" sz="1200" dirty="0">
                <a:latin typeface="Google Sans Text"/>
              </a:rPr>
              <a:t> via a standard API call, ensuring scalability, faster application startup times, and easy model version management.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Google Sans Text"/>
              </a:rPr>
              <a:t>RDS as a Dynamic Feature Store:</a:t>
            </a:r>
            <a:endParaRPr lang="en-US" altLang="en-US" sz="1200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Google Sans Text"/>
              </a:rPr>
              <a:t>The system utilizes </a:t>
            </a:r>
            <a:r>
              <a:rPr lang="en-US" altLang="en-US" sz="1200" b="1" dirty="0">
                <a:latin typeface="Google Sans Text"/>
              </a:rPr>
              <a:t>RDS (MySQL)</a:t>
            </a:r>
            <a:r>
              <a:rPr lang="en-US" altLang="en-US" sz="1200" dirty="0">
                <a:latin typeface="Google Sans Text"/>
              </a:rPr>
              <a:t> not just for raw data storage, but as a formal </a:t>
            </a:r>
            <a:r>
              <a:rPr lang="en-US" altLang="en-US" sz="1200" b="1" dirty="0">
                <a:latin typeface="Google Sans Text"/>
              </a:rPr>
              <a:t>Feature Store</a:t>
            </a:r>
            <a:r>
              <a:rPr lang="en-US" altLang="en-US" sz="1200" dirty="0">
                <a:latin typeface="Google Sans Text"/>
              </a:rPr>
              <a:t>. The ETL process runs complex feature generation SQL scripts (02_feature_extraction.sql) directly on the database. This ensures that features like </a:t>
            </a:r>
            <a:r>
              <a:rPr lang="en-US" altLang="en-US" sz="1200" dirty="0" err="1">
                <a:latin typeface="Google Sans Text"/>
              </a:rPr>
              <a:t>First_sem_pass_rate</a:t>
            </a:r>
            <a:r>
              <a:rPr lang="en-US" altLang="en-US" sz="1200" dirty="0">
                <a:latin typeface="Google Sans Text"/>
              </a:rPr>
              <a:t> are standardized, reusable, and immediately available for both model training and real-time dashboard visualization.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Google Sans Text"/>
              </a:rPr>
              <a:t>Generative AI-Powered Personalized Intervention (RAG):</a:t>
            </a:r>
            <a:endParaRPr lang="en-US" altLang="en-US" sz="1200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Google Sans Text"/>
              </a:rPr>
              <a:t>The most significant innovation is the integration of a </a:t>
            </a:r>
            <a:r>
              <a:rPr lang="en-US" altLang="en-US" sz="1200" b="1" dirty="0">
                <a:latin typeface="Google Sans Text"/>
              </a:rPr>
              <a:t>Retrieval-Augmented Generation (RAG)</a:t>
            </a:r>
            <a:r>
              <a:rPr lang="en-US" altLang="en-US" sz="1200" dirty="0">
                <a:latin typeface="Google Sans Text"/>
              </a:rPr>
              <a:t> system powered by DeepSeek, Qwen &amp; </a:t>
            </a:r>
            <a:r>
              <a:rPr lang="en-US" altLang="en-US" sz="1200" b="1" dirty="0">
                <a:latin typeface="Google Sans Text"/>
              </a:rPr>
              <a:t>Gemini</a:t>
            </a:r>
            <a:r>
              <a:rPr lang="en-US" altLang="en-US" sz="1200" dirty="0">
                <a:latin typeface="Google Sans Text"/>
              </a:rPr>
              <a:t>. Instead of just outputting a risk score (e.g., 90% chance of dropout), the system uses the score and the student's entire profile (the "retrieved data") as context to generate </a:t>
            </a:r>
            <a:r>
              <a:rPr lang="en-US" altLang="en-US" sz="1200" b="1" dirty="0">
                <a:latin typeface="Google Sans Text"/>
              </a:rPr>
              <a:t>nuanced, conversational retention advice</a:t>
            </a:r>
            <a:r>
              <a:rPr lang="en-US" altLang="en-US" sz="1200" dirty="0">
                <a:latin typeface="Google Sans Text"/>
              </a:rPr>
              <a:t> ("AI Counselor Chat"). This shifts the tool from being a simple predictor to an active </a:t>
            </a:r>
            <a:r>
              <a:rPr lang="en-US" altLang="en-US" sz="1200" b="1" dirty="0">
                <a:latin typeface="Google Sans Text"/>
              </a:rPr>
              <a:t>decision support system</a:t>
            </a:r>
            <a:r>
              <a:rPr lang="en-US" altLang="en-US" sz="1200" dirty="0">
                <a:latin typeface="Google Sans Tex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Google Sans Text"/>
              </a:rPr>
              <a:t>Simplified Frontend Development with Production ML Integration:</a:t>
            </a:r>
            <a:endParaRPr lang="en-US" altLang="en-US" sz="1200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Google Sans Text"/>
              </a:rPr>
              <a:t>By using </a:t>
            </a:r>
            <a:r>
              <a:rPr lang="en-US" altLang="en-US" sz="1200" b="1" dirty="0" err="1">
                <a:latin typeface="Google Sans Text"/>
              </a:rPr>
              <a:t>Streamlit</a:t>
            </a:r>
            <a:r>
              <a:rPr lang="en-US" altLang="en-US" sz="1200" dirty="0">
                <a:latin typeface="Google Sans Text"/>
              </a:rPr>
              <a:t> on </a:t>
            </a:r>
            <a:r>
              <a:rPr lang="en-US" altLang="en-US" sz="1200" b="1" dirty="0">
                <a:latin typeface="Google Sans Text"/>
              </a:rPr>
              <a:t>ECS 2</a:t>
            </a:r>
            <a:r>
              <a:rPr lang="en-US" altLang="en-US" sz="1200" dirty="0">
                <a:latin typeface="Google Sans Text"/>
              </a:rPr>
              <a:t> for the front end, the solution prioritizes fast development and iteration. Crucially, the frontend focuses solely on UI/UX, while delegating the heavy computation (</a:t>
            </a:r>
            <a:r>
              <a:rPr lang="en-US" altLang="en-US" sz="1200" b="1" dirty="0">
                <a:latin typeface="Google Sans Text"/>
              </a:rPr>
              <a:t>ML inference</a:t>
            </a:r>
            <a:r>
              <a:rPr lang="en-US" altLang="en-US" sz="1200" dirty="0">
                <a:latin typeface="Google Sans Text"/>
              </a:rPr>
              <a:t> to the </a:t>
            </a:r>
            <a:r>
              <a:rPr lang="en-US" altLang="en-US" sz="1200" dirty="0" err="1">
                <a:latin typeface="Google Sans Text"/>
              </a:rPr>
              <a:t>ModelArts</a:t>
            </a:r>
            <a:r>
              <a:rPr lang="en-US" altLang="en-US" sz="1200" dirty="0">
                <a:latin typeface="Google Sans Text"/>
              </a:rPr>
              <a:t> API and </a:t>
            </a:r>
            <a:r>
              <a:rPr lang="en-US" altLang="en-US" sz="1200" b="1" dirty="0">
                <a:latin typeface="Google Sans Text"/>
              </a:rPr>
              <a:t>Generative AI</a:t>
            </a:r>
            <a:r>
              <a:rPr lang="en-US" altLang="en-US" sz="1200" dirty="0">
                <a:latin typeface="Google Sans Text"/>
              </a:rPr>
              <a:t> to the DeepSeek, Qwen &amp; Gemini service), resulting in a lean, fast, and highly interactive counselor application.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Google Sans Text"/>
              </a:rPr>
              <a:t>Full Huawei Cloud Service Stack:</a:t>
            </a:r>
            <a:endParaRPr lang="en-US" altLang="en-US" sz="1200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Google Sans Text"/>
              </a:rPr>
              <a:t>The entire architecture is built exclusively on </a:t>
            </a:r>
            <a:r>
              <a:rPr lang="en-US" altLang="en-US" sz="1200" b="1" dirty="0">
                <a:latin typeface="Google Sans Text"/>
              </a:rPr>
              <a:t>Huawei Cloud Services (OBS, </a:t>
            </a:r>
            <a:r>
              <a:rPr lang="en-US" altLang="en-US" sz="1200" b="1" dirty="0" err="1">
                <a:latin typeface="Google Sans Text"/>
              </a:rPr>
              <a:t>FunctionGraph</a:t>
            </a:r>
            <a:r>
              <a:rPr lang="en-US" altLang="en-US" sz="1200" b="1" dirty="0">
                <a:latin typeface="Google Sans Text"/>
              </a:rPr>
              <a:t>, ECS, RDS, </a:t>
            </a:r>
            <a:r>
              <a:rPr lang="en-US" altLang="en-US" sz="1200" b="1" dirty="0" err="1">
                <a:latin typeface="Google Sans Text"/>
              </a:rPr>
              <a:t>ModelArts</a:t>
            </a:r>
            <a:r>
              <a:rPr lang="en-US" altLang="en-US" sz="1200" b="1" dirty="0">
                <a:latin typeface="Google Sans Text"/>
              </a:rPr>
              <a:t>)</a:t>
            </a:r>
            <a:r>
              <a:rPr lang="en-US" altLang="en-US" sz="1200" dirty="0">
                <a:latin typeface="Google Sans Text"/>
              </a:rPr>
              <a:t>, demonstrating an efficient, cohesive, and optimized use of a single-vendor cloud ecosystem for end-to-end </a:t>
            </a:r>
            <a:r>
              <a:rPr lang="en-US" altLang="en-US" sz="1200" dirty="0" err="1">
                <a:latin typeface="Google Sans Text"/>
              </a:rPr>
              <a:t>MLOps</a:t>
            </a:r>
            <a:r>
              <a:rPr lang="en-US" altLang="en-US" sz="1200" dirty="0">
                <a:latin typeface="Google Sans Text"/>
              </a:rPr>
              <a:t> deployment.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6602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Business Value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19C334-E8C9-0957-E237-2CBBD25A53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7072" y="1021334"/>
            <a:ext cx="9245968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Direct Increase in Student Retention and Revenue: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Value: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core function of the system is to identify high-risk students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before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they drop out. By enabling targeted, timely intervention (guided by the AI Counselor Chat), institutions can directly reduce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Impact: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Every retained student represents saved tuition revenue, leading to a substantial positive return on investment.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Optimized Resource Allocation and Operational Efficiency: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Value: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prediction service allows counselors and administrators to move away from broad, untargeted outreach. The system instantly highlights the students with the highest risk scores.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Impact: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Staff time and intervention resources (e.g., tutoring, financial aid counseling) are prioritized efficiently, maximizing the impact of limited human capital.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Data-Driven Policy Formulation: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Value: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structured data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the aggregated metrics in the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Streamlit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dashboard provide deep insights into the root causes of dropout (e.g., poor first-semester grades, debt status, specific courses).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Impact: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Institutions can leverage this data to make informed strategic decisions regarding curriculum changes, support service expansion, or revision of admission criteria.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Enhanced Student Experience and Reputation: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Value: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Proactive intervention demonstrates a genuine commitment to student welfare. The personalized advice from the RAG system makes the interaction feel tailored and supportive.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Impact: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Improves student satisfaction and retention, leading to positive word-of-mouth and a stronger institutional reputation.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Future-Proof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MLOps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Infrastructure: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Value: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automated, Huawei Cloud-native architecture (OBS to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FunctionGraph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ModelArts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establishes a robust, scalable foundation.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Impact: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infrastructure can be easily adapted to support other predictive applications (e.g., course placement, enrollment forecasting) with minimal refactoring, yielding long-term infrastructure savings.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352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Demo &amp; Follow-up</a:t>
            </a:r>
            <a:r>
              <a:rPr dirty="0"/>
              <a:t> Plan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304" y="6427396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51" y="1142197"/>
            <a:ext cx="10729366" cy="3676840"/>
          </a:xfrm>
        </p:spPr>
        <p:txBody>
          <a:bodyPr>
            <a:spAutoFit/>
          </a:bodyPr>
          <a:lstStyle/>
          <a:p>
            <a:pPr marL="285636" indent="-2856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u="none" dirty="0">
                <a:solidFill>
                  <a:srgbClr val="FF0000"/>
                </a:solidFill>
              </a:rPr>
              <a:t>Demo</a:t>
            </a:r>
          </a:p>
          <a:p>
            <a:pPr marL="285636" indent="-285636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  <a:hlinkClick r:id="rId3"/>
              </a:rPr>
              <a:t>http://159.138.88.64/</a:t>
            </a:r>
            <a:endParaRPr lang="en-US" sz="1600" b="1" dirty="0">
              <a:solidFill>
                <a:srgbClr val="FF0000"/>
              </a:solidFill>
            </a:endParaRPr>
          </a:p>
          <a:p>
            <a:pPr marL="285636" indent="-285636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  <a:hlinkClick r:id="rId4"/>
              </a:rPr>
              <a:t>https://drive.google.com/drive/folders/1ay4nWDDlgewaPb4Ky_L81dtEtqeeXNoo?usp=sharing</a:t>
            </a:r>
            <a:endParaRPr lang="en-US" sz="1600" b="1" dirty="0">
              <a:solidFill>
                <a:srgbClr val="FF0000"/>
              </a:solidFill>
            </a:endParaRPr>
          </a:p>
          <a:p>
            <a:pPr marL="285636" indent="-285636">
              <a:lnSpc>
                <a:spcPct val="150000"/>
              </a:lnSpc>
            </a:pPr>
            <a:endParaRPr lang="en-US" sz="1600" b="1" u="none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 marL="285636" indent="-28563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FF0000"/>
              </a:solidFill>
            </a:endParaRPr>
          </a:p>
          <a:p>
            <a:pPr marL="285636" indent="-28563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u="none" dirty="0">
              <a:solidFill>
                <a:srgbClr val="FF0000"/>
              </a:solidFill>
            </a:endParaRPr>
          </a:p>
          <a:p>
            <a:pPr marL="742836" lvl="1" indent="-285636">
              <a:lnSpc>
                <a:spcPct val="150000"/>
              </a:lnSpc>
            </a:pPr>
            <a:endParaRPr lang="en-US" sz="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073051-D5C7-2EE7-F5C0-9F929751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13" y="2506679"/>
            <a:ext cx="7299490" cy="41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Feedback Loop for Model Drift Correction: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a simple mechanism in the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to record the outcome of a counselor's intervention (e.g., "Student retained," "Still dropped out").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this ground truth data to continuously monitor model performance and automatically trigger retraining/recalibration when performance metrics (e.g., AUC, F1-Score) drop below a threshold, ensuring sustained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Institutional SIS/LMS (Real-Time Data Feeds):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 data ingestion from batch CSV uploads (to OBS) to direct, streaming integration with the institution's Student Information System (SIS) or Learning Management System (LMS).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true real-time prediction based on the latest student activity (e.g., recent test scores, attendance logs) for even faster intervention response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RAG System Knowledge Base: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Augment the RAG system's knowledge base by indexing all official institutional documents, academic policies, course prerequisites, and counseling protocols.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 the "AI Counselor Chat" to provide definitive, policy-backed advice (e.g., "Based on policy 4.A, this student is eligible for a course withdrawal without penalty").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A/B Testing and Controlled Intervention Trials: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a controlled experiment where a predicted "at-risk" group is split: one half receives the AI-guided intervention, and the other receives the standard intervention.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Quantify the exact lift in retention attributable to the AI system to formally validate the project's ROI.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Explainability and Trust (XAI):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explainability tools (e.g., SHAP, LIME, which can be done in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ModelArts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into the prediction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counselors with an "explanation score" alongside the risk score (e.g., "Student is high risk primarily due to low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First_sem_pass_rate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high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Debtor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status"), building trust and directing the human counselor's focus.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65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Achievements</a:t>
            </a:r>
            <a:r>
              <a:rPr lang="en-US" dirty="0"/>
              <a:t> (HCCDX Certificates)</a:t>
            </a:r>
            <a:endParaRPr dirty="0"/>
          </a:p>
          <a:p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pic>
        <p:nvPicPr>
          <p:cNvPr id="10" name="Picture 9" descr="A certificate of a developer certification&#10;&#10;AI-generated content may be incorrect.">
            <a:extLst>
              <a:ext uri="{FF2B5EF4-FFF2-40B4-BE49-F238E27FC236}">
                <a16:creationId xmlns:a16="http://schemas.microsoft.com/office/drawing/2014/main" id="{4DE867C5-0D46-F53C-9432-FF7F62C0E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507" y="1148300"/>
            <a:ext cx="7004957" cy="493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02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DD7D-90D7-7806-A481-FEFAA3F8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B2255250-52CF-BF3A-9F7C-EE42FDD8CA3A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Achievements (HCCDX Certificates)</a:t>
            </a:r>
          </a:p>
          <a:p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D03A18-2190-82CE-1C58-B0708E9E9CFA}"/>
              </a:ext>
            </a:extLst>
          </p:cNvPr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F4E762-19D1-7E3C-4230-608917D63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pic>
        <p:nvPicPr>
          <p:cNvPr id="7" name="Picture 6" descr="A certificate of a developer certification&#10;&#10;AI-generated content may be incorrect.">
            <a:extLst>
              <a:ext uri="{FF2B5EF4-FFF2-40B4-BE49-F238E27FC236}">
                <a16:creationId xmlns:a16="http://schemas.microsoft.com/office/drawing/2014/main" id="{A105D0C3-7513-1AF9-AA38-4E48F0B2F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729" y="1167349"/>
            <a:ext cx="7258049" cy="511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17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CC7D-1112-6E35-C060-7E334FBF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BF9EB4AB-30C4-FFE8-12C6-DEB3BF235373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Achievements (HCCDX Certificates)</a:t>
            </a:r>
          </a:p>
          <a:p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3EC0B9-5CAD-6976-2CBE-67864F8DFC1A}"/>
              </a:ext>
            </a:extLst>
          </p:cNvPr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569C2EB-2658-D13B-AB3F-3ECC01965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pic>
        <p:nvPicPr>
          <p:cNvPr id="5" name="Picture 4" descr="A certificate of a developer certification&#10;&#10;AI-generated content may be incorrect.">
            <a:extLst>
              <a:ext uri="{FF2B5EF4-FFF2-40B4-BE49-F238E27FC236}">
                <a16:creationId xmlns:a16="http://schemas.microsoft.com/office/drawing/2014/main" id="{521BAAA9-6EE3-E23A-CF2C-B306568B3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793" y="1208313"/>
            <a:ext cx="6855684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84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50AD-3FE5-2783-7BBF-053ED1FA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5A253F9F-1EA0-175F-158B-B09996FC0917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Achievements (HCCDX Certificates)</a:t>
            </a:r>
          </a:p>
          <a:p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1FFBF7-7E6B-2F1A-08D1-9354CE489A53}"/>
              </a:ext>
            </a:extLst>
          </p:cNvPr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5B38CE3-DFCD-174D-84CD-83D058F24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E05B74-4CA3-31B1-DC85-9C3EFE6A2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1" y="1356338"/>
            <a:ext cx="8229600" cy="437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66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9554C-8DA3-45D7-CEBD-E41E93D4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5C577C37-9816-A0BB-D268-3915E0480AEB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Achievements (HCCDX Certificates)</a:t>
            </a:r>
          </a:p>
          <a:p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95AAB0-0752-7C0E-EF2A-5DE8E4E2564C}"/>
              </a:ext>
            </a:extLst>
          </p:cNvPr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2C5F45D-C27B-BFE5-F424-3A07B67F5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pic>
        <p:nvPicPr>
          <p:cNvPr id="4" name="Picture 3" descr="A certificate of a developer certification&#10;&#10;AI-generated content may be incorrect.">
            <a:extLst>
              <a:ext uri="{FF2B5EF4-FFF2-40B4-BE49-F238E27FC236}">
                <a16:creationId xmlns:a16="http://schemas.microsoft.com/office/drawing/2014/main" id="{27A21EC6-4EF5-1B17-C871-F51BD40279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841" y="1361668"/>
            <a:ext cx="6399656" cy="45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65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5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561406" y="1911238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4400" b="1" u="none" dirty="0">
                <a:solidFill>
                  <a:srgbClr val="990000"/>
                </a:solidFill>
              </a:rPr>
              <a:t>THANK YOU</a:t>
            </a:r>
            <a:endParaRPr lang="zh-CN" altLang="en-US" sz="4400" b="1" dirty="0">
              <a:solidFill>
                <a:srgbClr val="990000"/>
              </a:solidFill>
              <a:latin typeface="Arial" panose="02000000000000000000" pitchFamily="2" charset="-122"/>
              <a:ea typeface="方正兰亭黑简体" panose="02000000000000000000" pitchFamily="2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9502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3271</TotalTime>
  <Words>2984</Words>
  <Application>Microsoft Office PowerPoint</Application>
  <PresentationFormat>Widescreen</PresentationFormat>
  <Paragraphs>175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Microsoft YaHei</vt:lpstr>
      <vt:lpstr>Arial</vt:lpstr>
      <vt:lpstr>Arial Unicode MS</vt:lpstr>
      <vt:lpstr>Calibri</vt:lpstr>
      <vt:lpstr>Calibri Light</vt:lpstr>
      <vt:lpstr>FZLanTingHeiS-DB-GB</vt:lpstr>
      <vt:lpstr>Google Sans Text</vt:lpstr>
      <vt:lpstr>Wingdings</vt:lpstr>
      <vt:lpstr>方正兰亭黑简体</vt:lpstr>
      <vt:lpstr>1_Office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zhengfangyuan</dc:creator>
  <cp:lastModifiedBy>George Joseph Basilious Tawadrous 2100261</cp:lastModifiedBy>
  <cp:revision>92</cp:revision>
  <dcterms:created xsi:type="dcterms:W3CDTF">2022-06-07T06:38:16Z</dcterms:created>
  <dcterms:modified xsi:type="dcterms:W3CDTF">2025-11-16T07:52:08Z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(3)zqU5RP/gneUQdN491x6FdUzwctKodf6vMHIfJkx3xXLYLaBnmQ0n7yR30zj8x2EmeG72/L45
Uib3+z82y2Qj2zIXYO1XZOvrRM3Xn0Ls4NkPisd7dOe3HSgSUGiMPmpK/N8dBEgToyY1wQpk
YNLDyfhGwLxfkF3pTayYmd91pZfNaVGDHxtT12LDxbkEVl01zr/O23dReYjcOf3ayOLhrYtW
qbzfZBIvIGBiS/TZH6</vt:lpwstr>
  </property>
  <property fmtid="{D5CDD505-2E9C-101B-9397-08002B2CF9AE}" pid="3" name="_2015_ms_pID_7253431">
    <vt:lpwstr>CSYqV1vPrUJ3BrRXsZI97E9T+GZzwKY8CRSRZLZcJQLimw7e3sHIjl
1dISVZ59lEMMQs3aGWphk9I2auZm5YJJOL9wEKh26OaUq1bXTVLJHvljDLdPamFJpQrtF4n3
PfCs2lR//U6NnFqWIcC/V3ogKnhz+0PKS92lLzu9nvI3ObKemrC7+Gj6eBQi9p0FLvro5Z25
ySEV2O7Yj9Kk06Z07+EvNZ7Nzcr96hdAXP0f</vt:lpwstr>
  </property>
  <property fmtid="{D5CDD505-2E9C-101B-9397-08002B2CF9AE}" pid="4" name="_2015_ms_pID_7253432">
    <vt:lpwstr>UwUKMYadRsISUvqXZR8o0K8=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1656050662</vt:lpwstr>
  </property>
</Properties>
</file>